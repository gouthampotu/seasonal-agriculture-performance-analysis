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47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5033" autoAdjust="0"/>
  </p:normalViewPr>
  <p:slideViewPr>
    <p:cSldViewPr snapToGrid="0">
      <p:cViewPr>
        <p:scale>
          <a:sx n="94" d="100"/>
          <a:sy n="94" d="100"/>
        </p:scale>
        <p:origin x="269" y="-3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77" y="2814059"/>
            <a:ext cx="9535157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US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529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</a:t>
            </a:r>
            <a:r>
              <a:rPr lang="en-US" b="1" i="0" dirty="0">
                <a:solidFill>
                  <a:srgbClr val="020617"/>
                </a:solidFill>
                <a:effectLst/>
                <a:latin typeface="__Plus_Jakarta_Sans_a11773"/>
              </a:rPr>
              <a:t>STU66349b7abdc391714723706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2C05D3-5173-4726-9531-5289A658CBEC}"/>
              </a:ext>
            </a:extLst>
          </p:cNvPr>
          <p:cNvSpPr txBox="1"/>
          <p:nvPr/>
        </p:nvSpPr>
        <p:spPr>
          <a:xfrm>
            <a:off x="235769" y="3557507"/>
            <a:ext cx="40405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 </a:t>
            </a:r>
            <a:r>
              <a:rPr lang="en-US" b="1" dirty="0">
                <a:solidFill>
                  <a:schemeClr val="tx1"/>
                </a:solidFill>
              </a:rPr>
              <a:t>Student Name:  </a:t>
            </a:r>
            <a:r>
              <a:rPr lang="en-US" b="1" dirty="0" err="1">
                <a:solidFill>
                  <a:schemeClr val="tx1"/>
                </a:solidFill>
              </a:rPr>
              <a:t>Potu</a:t>
            </a:r>
            <a:r>
              <a:rPr lang="en-US" b="1" dirty="0">
                <a:solidFill>
                  <a:schemeClr val="tx1"/>
                </a:solidFill>
              </a:rPr>
              <a:t> Goutham College Name-  Anurag University </a:t>
            </a:r>
            <a:r>
              <a:rPr lang="en-US" dirty="0">
                <a:solidFill>
                  <a:schemeClr val="tx1"/>
                </a:solidFill>
              </a:rPr>
              <a:t>]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161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1" y="879218"/>
            <a:ext cx="6995604" cy="790111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914963-E716-4F56-ACAD-866FFAA55D9D}"/>
              </a:ext>
            </a:extLst>
          </p:cNvPr>
          <p:cNvSpPr txBox="1"/>
          <p:nvPr/>
        </p:nvSpPr>
        <p:spPr>
          <a:xfrm>
            <a:off x="670026" y="1961059"/>
            <a:ext cx="71647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417320"/>
            <a:ext cx="196596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27048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DATA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56232"/>
            <a:ext cx="1691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95144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Farm-level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417320"/>
            <a:ext cx="196596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63240" y="1527048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856232"/>
            <a:ext cx="1691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295144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Environment • resources • economics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417320"/>
            <a:ext cx="196596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1527048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SEASONS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56232"/>
            <a:ext cx="1691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295144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Kharif • Rabi • Zaid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417320"/>
            <a:ext cx="1965960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1527048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CROPS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1856232"/>
            <a:ext cx="1691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295144"/>
            <a:ext cx="1691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Multiple crop categories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063240"/>
            <a:ext cx="9875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Dataset covers farm location, crop and season, environmental conditions, soil characteristics, inputs, irrigation, yield, production, market price and financial outcomes.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Analysis follows a focused seasonal-performance approach rather than a generic whole-dataset exploration.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Workflow: data audit → cleaning → exploratory analysis → seasonal comparison → statistical testing → interpretation → recommendations.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8640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ptos"/>
              </a:rPr>
              <a:t>Missing data: 120 cells across Rainfall, Soil Moisture and Yield; handled with season-wise median imputation. No duplicate rows detected.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t>Who Are the End Users?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77240" y="1508760"/>
            <a:ext cx="274320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6184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FARMERS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94767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Season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386584"/>
            <a:ext cx="246888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Compare expected performance and resource patterns across seasons.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1508760"/>
            <a:ext cx="274320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16184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AGRICULTURAL PLANNERS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94767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Evidence-based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386584"/>
            <a:ext cx="246888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Use seasonal trends to prioritize interventions and resources.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1508760"/>
            <a:ext cx="274320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16184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AGRIBUSINESS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4767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Economic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386584"/>
            <a:ext cx="246888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Understand revenue, cost and profit variation by season.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337560"/>
            <a:ext cx="274320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34472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RESEARCHERS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77647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Further investigation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215383"/>
            <a:ext cx="246888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Use observed relationships to frame deeper agronomic studies.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3337560"/>
            <a:ext cx="2743200" cy="13716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49240" y="34472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POLICY / EXTENSION TEAMS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776472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Targeted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15383"/>
            <a:ext cx="246888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Identify seasonal risk and resource-use areas needing attention.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05050"/>
                </a:solidFill>
                <a:latin typeface="Aptos"/>
              </a:rPr>
              <a:t>The analysis is intended as decision support—not as a substitute for local agronomic or market expertise.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t>Technology Used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32588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1435607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1764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Core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20370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Data processing and statistical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32588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1435607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1764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Data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20370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Cleaning, grouping, aggregation and reshaping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32588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1435607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NumPy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764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Numerical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20370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Numerical transformations and calculations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132588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1435607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Matplotlib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764792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Visualization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20370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Professional analytical charts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57400" y="324612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94560" y="33558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SciPy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685031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12394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ANOVA, Kruskal–Wallis and Mann–Whitney U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324612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33558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Jupyter / Colab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3685031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Development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12394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Reproducible notebook workflow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3246120"/>
            <a:ext cx="2286000" cy="13258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0" y="33558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PowerPoint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685031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Communication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123944"/>
            <a:ext cx="2011680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Executive presentation of findings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57800"/>
            <a:ext cx="9692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9415F"/>
                </a:solidFill>
                <a:latin typeface="Aptos"/>
              </a:rPr>
              <a:t>Analytical approach: descriptive statistics + comparative analysis + visualization + non-parametric and parametric statistical testing.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86323"/>
            <a:ext cx="5937114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Results | Seasonal Yield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01_yield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446520" cy="42519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52360" y="141732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152704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HIGHEST AVERAGE YIELD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85623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Kharif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29514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5.63 t/ha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69748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280720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LOWEST AVERAGE YIELD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13639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Zaid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57530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4.64 t/ha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977639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0" y="408736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MEDIAN YIELD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41655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Kharif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85546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1.95 t/ha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34924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64646"/>
                </a:solidFill>
                <a:latin typeface="Aptos"/>
              </a:rPr>
              <a:t>Interpretation: Kharif has the highest mean and median yield among the three seasons, while Zaid has the lowest.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94697"/>
            <a:ext cx="5096193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Results | Economic Performance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02_profit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446520" cy="42519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52360" y="132588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1435607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KHARIF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76479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₹1.79L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20370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Highest average profit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60604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271576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RABI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04495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₹0.88L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48386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Positive average profit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88620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0" y="399592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ZAID PROFIT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32511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−₹0.25L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76402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Average loss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25780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9415F"/>
                </a:solidFill>
                <a:latin typeface="Aptos"/>
              </a:rPr>
              <a:t>Profitable-farm share: Kharif 57.8% • Rabi 48.9% • Zaid 35.5%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40603"/>
            <a:ext cx="5039043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Results | Resource Use &amp; Risk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03_efficiency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446520" cy="42519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52360" y="132588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1435607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BEST WATER 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76479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Kharif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20370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5.89 t/1,000 m³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60604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271576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HIGHEST WATER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04495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Zaid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48386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6420 m³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886200"/>
            <a:ext cx="2880360" cy="109728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0" y="399592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HIGHEST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325112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Kharif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764024"/>
            <a:ext cx="2606040" cy="137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54.5%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257800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64646"/>
                </a:solidFill>
                <a:latin typeface="Aptos"/>
              </a:rPr>
              <a:t>Kharif combines strong yield and water-efficiency averages but also shows the highest disease/pest risk.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05" y="558891"/>
            <a:ext cx="5063536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Results | Irrigation Comparison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04_irrigation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6537960" cy="429768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52360" y="1318478"/>
            <a:ext cx="28346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0" y="138988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KHARIF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71907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Drip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157984"/>
            <a:ext cx="25603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Highest average profit in season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606040"/>
            <a:ext cx="28346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27157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RABI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04495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Drip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483864"/>
            <a:ext cx="25603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Highest average profit in season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931920"/>
            <a:ext cx="2834640" cy="1143000"/>
          </a:xfrm>
          <a:prstGeom prst="roundRect">
            <a:avLst/>
          </a:prstGeom>
          <a:solidFill>
            <a:srgbClr val="F7F9FB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0" y="4041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tos"/>
              </a:rPr>
              <a:t>ZAID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370831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415F"/>
                </a:solidFill>
                <a:latin typeface="Aptos"/>
              </a:rPr>
              <a:t>Sprinkler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809744"/>
            <a:ext cx="2560320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tos"/>
              </a:rPr>
              <a:t>Highest average profit in season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534924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B4B4B"/>
                </a:solidFill>
                <a:latin typeface="Aptos"/>
              </a:rPr>
              <a:t>Across the dataset, irrigation method is associated with substantial differences in profit and water use; these are associations, not causal proof.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63463"/>
            <a:ext cx="6309360" cy="830997"/>
          </a:xfrm>
        </p:spPr>
        <p:txBody>
          <a:bodyPr>
            <a:normAutofit fontScale="90000"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Results | Crop × Season &amp; Statistical Evidence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1" name="Picture 30" descr="05_crop_sea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6309360" cy="4526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8660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415F"/>
                </a:solidFill>
                <a:latin typeface="Aptos"/>
              </a:rPr>
              <a:t>STATISTICAL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164592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ANOVA: F = 1.55, p = 0.212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Kruskal–Wallis: H = 70.17, p &lt; 0.001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Effect size (η²): 0.0008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t>All three pairwise Mann–Whitney U comparisons remain significant after Bonferroni correction (α = 0.05).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374136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9415F"/>
                </a:solidFill>
                <a:latin typeface="Aptos"/>
              </a:rPr>
              <a:t>KEY INTERPRETATION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701687"/>
            <a:ext cx="3840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dirty="0"/>
              <a:t>Seasonal yield distributions differ significantly under the non-parametric test.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dirty="0"/>
              <a:t>The very small η² indicates season alone explains little of total yield variance.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dirty="0"/>
              <a:t>Therefore, seasonal differences should be interpreted alongside crop, environment, inputs and farm characteristics.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07" y="927899"/>
            <a:ext cx="4735798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04603" y="2015234"/>
            <a:ext cx="806631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Build predictive models for yield, profit and disease/pest risk by season.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Add multi-year time-series data to separate seasonal effects from year-to-year variation.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Incorporate local weather forecasts, soil-test data and market-price forecasts.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Develop crop-specific and region-specific recommendation models.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Evaluate irrigation and input strategies with causal or experimental designs.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Create an interactive dashboard for farmers, planners and agribusiness users.</a:t>
            </a:r>
          </a:p>
          <a:p>
            <a:pPr>
              <a:spcAft>
                <a:spcPts val="7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rPr dirty="0"/>
              <a:t>Add explainable AI techniques to make predictive recommendations easier to trust.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40" y="1275371"/>
            <a:ext cx="4735798" cy="830997"/>
          </a:xfrm>
        </p:spPr>
        <p:txBody>
          <a:bodyPr>
            <a:norm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914400" y="2438432"/>
            <a:ext cx="982163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2D2D2D"/>
                </a:solidFill>
                <a:latin typeface="Aptos"/>
              </a:rPr>
              <a:t>[https://github.com/gouthampotu/Seasonal-Agriculture-Performance-Analysis.git </a:t>
            </a:r>
            <a:r>
              <a:rPr b="1" dirty="0">
                <a:solidFill>
                  <a:srgbClr val="2D2D2D"/>
                </a:solidFill>
                <a:latin typeface="Aptos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869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E6E6E"/>
                </a:solidFill>
                <a:latin typeface="Aptos"/>
              </a:rPr>
              <a:t>VOIS × AICTE | Major Project |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37540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9C1F0-3E24-4D0F-AF82-F44F17F9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5" y="1555369"/>
            <a:ext cx="8351387" cy="49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79" y="3037024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defRPr sz="3800" b="1">
                <a:solidFill>
                  <a:srgbClr val="19415F"/>
                </a:solidFill>
                <a:latin typeface="Aptos Display"/>
              </a:defRPr>
            </a:pPr>
            <a:r>
              <a:rPr sz="9600" dirty="0"/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599</TotalTime>
  <Words>904</Words>
  <Application>Microsoft Office PowerPoint</Application>
  <PresentationFormat>Widescreen</PresentationFormat>
  <Paragraphs>143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__Plus_Jakarta_Sans_a11773</vt:lpstr>
      <vt:lpstr>Aptos</vt:lpstr>
      <vt:lpstr>Aptos Display</vt:lpstr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Statement</vt:lpstr>
      <vt:lpstr>Project Description</vt:lpstr>
      <vt:lpstr>Who Are the End Users?</vt:lpstr>
      <vt:lpstr>Technology Used</vt:lpstr>
      <vt:lpstr>Results | Seasonal Yield Performance</vt:lpstr>
      <vt:lpstr>Results | Economic Performance</vt:lpstr>
      <vt:lpstr>Results | Resource Use &amp; Risk</vt:lpstr>
      <vt:lpstr>Results | Irrigation Comparison</vt:lpstr>
      <vt:lpstr>Results | Crop × Season &amp; Statistical Evidence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GOUTHAM ...</cp:lastModifiedBy>
  <cp:revision>102</cp:revision>
  <dcterms:created xsi:type="dcterms:W3CDTF">2021-07-11T13:13:15Z</dcterms:created>
  <dcterms:modified xsi:type="dcterms:W3CDTF">2026-09-12T21:03:20Z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